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slideId=chapter-revenue
- chapter=revenue
- kind=revenue-summary
- order=0
[Sources]
- public.financeiro_fechamento_caixa.faturamento_bruto
- data local: public.financeiro_fechamento_caixa.data
- líquido por loja: livro razão, categoria vinculada em financeiro_fechamento_marcas.categoria_id
- detalhamento por marcas não somado novamente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slideId=revenue-gross-net
- chapter=revenue
- kind=revenue-gross-net
- order=1
[Sources]
- public.financeiro_fechamento_caixa.faturamento_bruto
- data local: public.financeiro_fechamento_caixa.data
- líquido por loja: livro razão, categoria vinculada em financeiro_fechamento_marcas.categoria_id
- detalhamento por marcas não somado novamente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slideId=revenue-by-brand-1
- chapter=revenue
- kind=revenue-by-brand
- order=2
[Sources]
- public.financeiro_fechamento_caixa.faturamento_bruto
- data local: public.financeiro_fechamento_caixa.data
- líquido por loja: livro razão, categoria vinculada em financeiro_fechamento_marcas.categoria_id
- detalhamento por marcas não somado novamente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slideId=revenue-weekdays
- chapter=revenue
- kind=revenue-weekdays
- order=3
[Sources]
- public.financeiro_fechamento_caixa.faturamento_bruto
- data local: public.financeiro_fechamento_caixa.data
- líquido por loja: livro razão, categoria vinculada em financeiro_fechamento_marcas.categoria_id
- detalhamento por marcas não somado novamente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slideId=revenue-history
- chapter=revenue
- kind=revenue-history
- order=4
[Sources]
- public.financeiro_fechamento_caixa.faturamento_bruto
- data local: public.financeiro_fechamento_caixa.data
- líquido por loja: livro razão, categoria vinculada em financeiro_fechamento_marcas.categoria_id
- detalhamento por marcas não somado novamente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slideId=chapter-results
- chapter=results
- kind=results-summary
- order=10
[Sources]
- public.get_fin_presentation_socios
- public.fin_lancamentos
- public.fin_lancamento_rateios
- data efetiva: COALESCE(data_pagamento, conciliado_em::date, data_competencia); regime de caixa do Dashboard
- rateio prevalece sobre o cabecalho
- valores nao operacionais ficam fora do resultado operacional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slideId=results-comparison
- chapter=results
- kind=results-comparison
- order=11
[Sources]
- public.get_fin_presentation_socios
- public.fin_lancamentos
- public.fin_lancamento_rateios
- data efetiva: COALESCE(data_pagamento, conciliado_em::date, data_competencia); regime de caixa do Dashboard
- rateio prevalece sobre o cabecalho
- valores nao operacionais ficam fora do resultado operacional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slideId=results-evolution-1
- chapter=results
- kind=results-evolution
- order=12
[Sources]
- public.get_fin_presentation_socios
- public.fin_lancamentos
- public.fin_lancamento_rateios
- data efetiva: COALESCE(data_pagamento, conciliado_em::date, data_competencia); regime de caixa do Dashboard
- rateio prevalece sobre o cabecalho
- valores nao operacionais ficam fora do resultado operacional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slideId=results-bridge
- chapter=results
- kind=results-bridge
- order=13
[Sources]
- public.get_fin_presentation_socios
- public.fin_lancamentos
- public.fin_lancamento_rateios
- data efetiva: COALESCE(data_pagamento, conciliado_em::date, data_competencia); regime de caixa do Dashboard
- rateio prevalece sobre o cabecalho
- valores nao operacionais ficam fora do resultado operacional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[Unit]
- id=b1000000-0000-4000-8000-000000000002
- name=F11 Shopping
[Presentation]
- slideId=chapter-insights
- chapter=insights
- kind=insights
- order=14
[Sources]
- public.financeiro_fechamento_caixa.faturamento_bruto; data local do fechamento
- public.fin_lancamentos + public.fin_lancamento_rateios; regime de caixa do DFC
[Rules]
- rulesetVersion=1.0
- sem causalidade, previsão ou recomendação automática
- nenhum insight atingiu os limiares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45720" cy="224028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" y="18745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MÊS SELECIONADO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22402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24128" y="27889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R$222,00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024128" y="358444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fechamento(s)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874520"/>
            <a:ext cx="45720" cy="224028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18745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MÊS ANTERIOR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47688" y="22402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47688" y="27889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cobertura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47688" y="358444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ocorrências · ausência explícita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105613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absoluta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1846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Mês anterior ausente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percentual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51846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Mês anterior ausente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Faturamento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mês selecionado × mês imediatamente anterior.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Data local do fechamento · Gerado em 16/09/2026 17:31 · Slide 1 de 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45720" cy="224028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" y="18745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MÊS SELECIONADO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22402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24128" y="265176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BRUTO (FECHAMENTO DE CAIXA)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4128" y="2852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R$222,00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327355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LÍQUIDO (LIVRO RAZÃO)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1874520"/>
            <a:ext cx="45720" cy="224028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18745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MÊS ANTERIOR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47688" y="22402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47688" y="265176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BRUTO (FECHAMENTO DE CAIXA)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47688" y="2852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47688" y="327355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LÍQUIDO (LIVRO RAZÃO)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7688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613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Diferença (mês selecionado)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1846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R$222,00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da diferença sobre o bruto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51846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" y="56692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Líquido = receita operacional do livro razão (regime de caixa) — mesma base do KPI "Receita operacional" de Resultados.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Faturamento bruto × líquido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Bruto — Fechamento de Caixa × Líquido — receita operacional do livro razão (regime de caixa) · mês selecionado.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Data local do fechamento · Gerado em 16/09/2026 17:31 · Slide 2 de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detalhamento por marca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100,0% do bruto do mês · 1 fechamento(s)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691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1856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R$222,00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691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LÍQUIDO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1856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1691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DIFERENÇA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1856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0" y="1691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DESCONTO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09760" y="1856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167128"/>
            <a:ext cx="10195560" cy="0"/>
          </a:xfrm>
          <a:prstGeom prst="line">
            <a:avLst/>
          </a:prstGeom>
          <a:noFill/>
          <a:ln w="635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Faturamento por loja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Bruto do mês selecionado (Fechamento de Caixa) e líquido do livro razão por loja — marcas na mesma categoria somam em uma linha só.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Data local do fechamento · Gerado em 16/09/2026 17:31 · Slide 3 de 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Segunda-feira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fechamento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aplicável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95144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95144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Terça-feira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95144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95144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fechamento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95144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95144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95144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95144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aplicável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Quarta-feira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R$222,00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R$222,00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68696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Quinta-feira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68696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68696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fechamento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68696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68696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68696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68696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aplicável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05472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Sexta-feira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05472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05472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fechamento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05472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05472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05472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05472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aplicável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842248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42248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Sábado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842248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42248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fechamento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842248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842248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42248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842248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aplicável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479024" y="1572768"/>
            <a:ext cx="1435608" cy="36576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79024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Domingo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479024" y="242316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479024" y="267919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fechamento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479024" y="338328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OCORRÊNCIAS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479024" y="363931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479024" y="43434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479024" y="459943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aplicável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Faturamento por dia da semana</a:t>
            </a:r>
            <a:endParaRPr lang="en-US" sz="3500" dirty="0"/>
          </a:p>
        </p:txBody>
      </p:sp>
      <p:sp>
        <p:nvSpPr>
          <p:cNvPr id="60" name="Text 58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total, ocorrências e média no mês selecionado.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Data local do fechamento · Gerado em 16/09/2026 17:31 · Slide 4 de 10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737360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R$262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3000" y="2956560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8651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R$175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4175760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0843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R$87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5394960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53035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0406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6512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2618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8724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830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042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3148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254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5360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14660" y="5468112"/>
            <a:ext cx="861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Dez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16290" y="2249579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126" y="2148995"/>
            <a:ext cx="429768" cy="201168"/>
          </a:xfrm>
          <a:prstGeom prst="roundRect">
            <a:avLst/>
          </a:prstGeom>
          <a:solidFill>
            <a:srgbClr val="090909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126" y="2148995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R$222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1371600"/>
            <a:ext cx="274320" cy="0"/>
          </a:xfrm>
          <a:prstGeom prst="line">
            <a:avLst/>
          </a:prstGeom>
          <a:noFill/>
          <a:ln w="28575">
            <a:solidFill>
              <a:srgbClr val="7AA2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1271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90304" y="1371600"/>
            <a:ext cx="274320" cy="0"/>
          </a:xfrm>
          <a:prstGeom prst="line">
            <a:avLst/>
          </a:prstGeom>
          <a:noFill/>
          <a:ln w="28575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9488" y="1271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51008" y="1371600"/>
            <a:ext cx="274320" cy="0"/>
          </a:xfrm>
          <a:prstGeom prst="line">
            <a:avLst/>
          </a:prstGeom>
          <a:noFill/>
          <a:ln w="28575">
            <a:solidFill>
              <a:srgbClr val="FCD3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80192" y="1271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Histórico mensal de faturamento</a:t>
            </a:r>
            <a:endParaRPr lang="en-US" sz="3500" dirty="0"/>
          </a:p>
        </p:txBody>
      </p:sp>
      <p:sp>
        <p:nvSpPr>
          <p:cNvPr id="33" name="Text 31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até três anos selecionados.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bruto — Fechamento de Caixa · Data local do fechamento · Gerado em 16/09/2026 17:31 · Slide 5 de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57400"/>
            <a:ext cx="54864" cy="214884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21488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 operacional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9536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6EE7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675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operacional do período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93008" y="2057400"/>
            <a:ext cx="54864" cy="214884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4176" y="21488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Despesa operacional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94176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DA4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694176" y="3675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operacional do período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2057400"/>
            <a:ext cx="54864" cy="214884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1488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operacional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28816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528816" y="3675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 − despesa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62288" y="2057400"/>
            <a:ext cx="54864" cy="2148840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21488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Margem operacional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63456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363456" y="3675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÷ receita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Setembro de 2026 · receita, despesa, resultado e margem · mesmo regime de caixa do Dashboard.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operacional — mesmo regime de caixa do Dashboard · Fonte: get_fin_presentation_socios · Gerado em 16/09/2026 17:31 · Slide 6 de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536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8036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 atual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8348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 anterior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8660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absoluta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8972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relativa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911096"/>
            <a:ext cx="10817352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80360" y="2029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029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2029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8972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zero - indisponível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2670048"/>
            <a:ext cx="10817352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Despesa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2788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2788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zero - indisponível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3429000"/>
            <a:ext cx="10817352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R$0,00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zero - indisponível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4187952"/>
            <a:ext cx="10817352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80360" y="43068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43068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43068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 p.p.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9720" y="4306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zero - indisponível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" y="5349240"/>
            <a:ext cx="10817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zero preserva a variação absoluta sem gerar valores inválidos.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com o período anterior</a:t>
            </a:r>
            <a:endParaRPr lang="en-US" sz="3500" dirty="0"/>
          </a:p>
        </p:txBody>
      </p:sp>
      <p:sp>
        <p:nvSpPr>
          <p:cNvPr id="34" name="Text 32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Períodos equivalentes · bases zero e indisponibilidade permanecem explícitas.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operacional — mesmo regime de caixa do Dashboard · Fonte: get_fin_presentation_socios · Gerado em 16/09/2026 17:31 · Slide 7 de 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664208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572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3000" y="2993136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9016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43000" y="4322064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230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5650992"/>
            <a:ext cx="10332720" cy="0"/>
          </a:xfrm>
          <a:prstGeom prst="line">
            <a:avLst/>
          </a:prstGeom>
          <a:noFill/>
          <a:ln w="8890">
            <a:solidFill>
              <a:srgbClr val="475569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5595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5650992"/>
            <a:ext cx="10332720" cy="0"/>
          </a:xfrm>
          <a:prstGeom prst="line">
            <a:avLst/>
          </a:prstGeom>
          <a:noFill/>
          <a:ln w="12700">
            <a:solidFill>
              <a:srgbClr val="A8B0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5332" y="5650992"/>
            <a:ext cx="201168" cy="1371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2220" y="5650992"/>
            <a:ext cx="201168" cy="13716"/>
          </a:xfrm>
          <a:prstGeom prst="rect">
            <a:avLst/>
          </a:prstGeom>
          <a:solidFill>
            <a:srgbClr val="FDA4AF"/>
          </a:solidFill>
          <a:ln w="12700">
            <a:solidFill>
              <a:srgbClr val="FDA4A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9068" y="5600700"/>
            <a:ext cx="100584" cy="100584"/>
          </a:xfrm>
          <a:prstGeom prst="ellipse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2963" y="5733288"/>
            <a:ext cx="9092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Setembro/2026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325880"/>
            <a:ext cx="109728" cy="10972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298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0" y="1325880"/>
            <a:ext cx="109728" cy="109728"/>
          </a:xfrm>
          <a:prstGeom prst="rect">
            <a:avLst/>
          </a:prstGeom>
          <a:solidFill>
            <a:srgbClr val="FDA4AF"/>
          </a:solidFill>
          <a:ln w="12700">
            <a:solidFill>
              <a:srgbClr val="FDA4A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3768" y="1298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Despesa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61320" y="1325880"/>
            <a:ext cx="109728" cy="109728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16768" y="1298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Evolução do resultado</a:t>
            </a:r>
            <a:endParaRPr lang="en-US" sz="3500" dirty="0"/>
          </a:p>
        </p:txBody>
      </p:sp>
      <p:sp>
        <p:nvSpPr>
          <p:cNvPr id="23" name="Text 21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Receita, despesa e resultado operacional na granularidade selecionada · regime de caixa do Dashboard.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operacional — mesmo regime de caixa do Dashboard · Fonte: get_fin_presentation_socios · Gerado em 16/09/2026 17:31 · Slide 8 de 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38528"/>
            <a:ext cx="2487168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402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anterior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538728" y="1938528"/>
            <a:ext cx="2487168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38728" y="22402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Efeito de receita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38728" y="28803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264408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91656" y="1938528"/>
            <a:ext cx="2487168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22402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Efeito de despesa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656" y="28803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117336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91656" y="36118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Despesa maior reduz o resultado; menor aumenta.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44584" y="1938528"/>
            <a:ext cx="2487168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22402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atual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44584" y="28803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970264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7716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892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total do resultado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4828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R$0,00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66760" y="48920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Ponte fechada exatamente no resultado atual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Ponte da variação do resultado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anterior + efeito de receita + efeito econômico de despesa = resultado atual.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operacional — mesmo regime de caixa do Dashboard · Fonte: get_fin_presentation_socios · Gerado em 16/09/2026 17:31 · Slide 9 de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0" y="2743200"/>
            <a:ext cx="8915400" cy="1417320"/>
          </a:xfrm>
          <a:prstGeom prst="roundRect">
            <a:avLst/>
          </a:prstGeom>
          <a:solidFill>
            <a:srgbClr val="090909">
              <a:alpha val="0"/>
            </a:srgbClr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920240" y="3200400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 insight atingiu os limiares mínimos de relevância e cobertura. Nenhuma leitura foi fabricada.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594360" cy="54864"/>
          </a:xfrm>
          <a:prstGeom prst="rect">
            <a:avLst/>
          </a:prstGeom>
          <a:solidFill>
            <a:srgbClr val="D6B85F"/>
          </a:solidFill>
          <a:ln w="12700">
            <a:solidFill>
              <a:srgbClr val="D6B8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40080" y="10607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determinístico · usa cada fonte canônica disponível e identifica a origem em cada insight · sem causalidade ou recomendação automática.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6236208"/>
            <a:ext cx="109087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3093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determinísticos · fonte canônica identificada em cada insight · Gerado em 16/09/2026 17:31 · Slide 10 de 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58368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F11 Shopping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F11 Shopping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Sócios - F11 Shopping - Setembro de 2026</dc:title>
  <dc:subject>Faturamento, despesas, resultados e insights - Setembro de 2026</dc:subject>
  <dc:creator>Moralles Food</dc:creator>
  <cp:lastModifiedBy>Moralles Food</cp:lastModifiedBy>
  <cp:revision>1</cp:revision>
  <dcterms:created xsi:type="dcterms:W3CDTF">2026-09-16T20:31:13Z</dcterms:created>
  <dcterms:modified xsi:type="dcterms:W3CDTF">2026-09-16T20:31:13Z</dcterms:modified>
</cp:coreProperties>
</file>